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1" r:id="rId1"/>
  </p:sldMasterIdLst>
  <p:notesMasterIdLst>
    <p:notesMasterId r:id="rId25"/>
  </p:notesMasterIdLst>
  <p:sldIdLst>
    <p:sldId id="297" r:id="rId2"/>
    <p:sldId id="257" r:id="rId3"/>
    <p:sldId id="259" r:id="rId4"/>
    <p:sldId id="260" r:id="rId5"/>
    <p:sldId id="265" r:id="rId6"/>
    <p:sldId id="261" r:id="rId7"/>
    <p:sldId id="284" r:id="rId8"/>
    <p:sldId id="262" r:id="rId9"/>
    <p:sldId id="285" r:id="rId10"/>
    <p:sldId id="286" r:id="rId11"/>
    <p:sldId id="287" r:id="rId12"/>
    <p:sldId id="288" r:id="rId13"/>
    <p:sldId id="289" r:id="rId14"/>
    <p:sldId id="263" r:id="rId15"/>
    <p:sldId id="291" r:id="rId16"/>
    <p:sldId id="290" r:id="rId17"/>
    <p:sldId id="264" r:id="rId18"/>
    <p:sldId id="292" r:id="rId19"/>
    <p:sldId id="293" r:id="rId20"/>
    <p:sldId id="294" r:id="rId21"/>
    <p:sldId id="295" r:id="rId22"/>
    <p:sldId id="296" r:id="rId23"/>
    <p:sldId id="25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1FF"/>
    <a:srgbClr val="6EEBFF"/>
    <a:srgbClr val="68E4FF"/>
    <a:srgbClr val="25998E"/>
    <a:srgbClr val="8AD378"/>
    <a:srgbClr val="499F46"/>
    <a:srgbClr val="6FC1B4"/>
    <a:srgbClr val="D1814F"/>
    <a:srgbClr val="DFA785"/>
    <a:srgbClr val="9EC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24E6C-2933-455D-B335-5A5B34E6CCC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F724-CF52-4F08-A481-78F2AB2573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F724-CF52-4F08-A481-78F2AB25734D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6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21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29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37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438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12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2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34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42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989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1095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0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5742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24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636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454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839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066800" y="628650"/>
            <a:ext cx="2803525" cy="386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724400" y="628650"/>
            <a:ext cx="2803525" cy="38671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382000" y="628650"/>
            <a:ext cx="2803525" cy="38671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42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0" r="10641"/>
          <a:stretch>
            <a:fillRect/>
          </a:stretch>
        </p:blipFill>
        <p:spPr>
          <a:xfrm>
            <a:off x="7335388" y="756470"/>
            <a:ext cx="4856612" cy="6101530"/>
          </a:xfrm>
          <a:prstGeom prst="rect">
            <a:avLst/>
          </a:prstGeom>
        </p:spPr>
      </p:pic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7997826" y="1063835"/>
            <a:ext cx="2095242" cy="4558880"/>
          </a:xfrm>
          <a:custGeom>
            <a:avLst/>
            <a:gdLst>
              <a:gd name="connsiteX0" fmla="*/ 237244 w 2355011"/>
              <a:gd name="connsiteY0" fmla="*/ 0 h 5124092"/>
              <a:gd name="connsiteX1" fmla="*/ 2117767 w 2355011"/>
              <a:gd name="connsiteY1" fmla="*/ 0 h 5124092"/>
              <a:gd name="connsiteX2" fmla="*/ 2355011 w 2355011"/>
              <a:gd name="connsiteY2" fmla="*/ 237244 h 5124092"/>
              <a:gd name="connsiteX3" fmla="*/ 2355011 w 2355011"/>
              <a:gd name="connsiteY3" fmla="*/ 4886848 h 5124092"/>
              <a:gd name="connsiteX4" fmla="*/ 2117767 w 2355011"/>
              <a:gd name="connsiteY4" fmla="*/ 5124092 h 5124092"/>
              <a:gd name="connsiteX5" fmla="*/ 237244 w 2355011"/>
              <a:gd name="connsiteY5" fmla="*/ 5124092 h 5124092"/>
              <a:gd name="connsiteX6" fmla="*/ 0 w 2355011"/>
              <a:gd name="connsiteY6" fmla="*/ 4886848 h 5124092"/>
              <a:gd name="connsiteX7" fmla="*/ 0 w 2355011"/>
              <a:gd name="connsiteY7" fmla="*/ 4819977 h 5124092"/>
              <a:gd name="connsiteX8" fmla="*/ 30933 w 2355011"/>
              <a:gd name="connsiteY8" fmla="*/ 4797780 h 5124092"/>
              <a:gd name="connsiteX9" fmla="*/ 91034 w 2355011"/>
              <a:gd name="connsiteY9" fmla="*/ 4745367 h 5124092"/>
              <a:gd name="connsiteX10" fmla="*/ 154534 w 2355011"/>
              <a:gd name="connsiteY10" fmla="*/ 4554867 h 5124092"/>
              <a:gd name="connsiteX11" fmla="*/ 113259 w 2355011"/>
              <a:gd name="connsiteY11" fmla="*/ 4421517 h 5124092"/>
              <a:gd name="connsiteX12" fmla="*/ 62062 w 2355011"/>
              <a:gd name="connsiteY12" fmla="*/ 4379449 h 5124092"/>
              <a:gd name="connsiteX13" fmla="*/ 0 w 2355011"/>
              <a:gd name="connsiteY13" fmla="*/ 4352126 h 5124092"/>
              <a:gd name="connsiteX14" fmla="*/ 0 w 2355011"/>
              <a:gd name="connsiteY14" fmla="*/ 237244 h 5124092"/>
              <a:gd name="connsiteX15" fmla="*/ 237244 w 2355011"/>
              <a:gd name="connsiteY15" fmla="*/ 0 h 512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55011" h="5124092">
                <a:moveTo>
                  <a:pt x="237244" y="0"/>
                </a:moveTo>
                <a:lnTo>
                  <a:pt x="2117767" y="0"/>
                </a:lnTo>
                <a:cubicBezTo>
                  <a:pt x="2248793" y="0"/>
                  <a:pt x="2355011" y="106218"/>
                  <a:pt x="2355011" y="237244"/>
                </a:cubicBezTo>
                <a:lnTo>
                  <a:pt x="2355011" y="4886848"/>
                </a:lnTo>
                <a:cubicBezTo>
                  <a:pt x="2355011" y="5017874"/>
                  <a:pt x="2248793" y="5124092"/>
                  <a:pt x="2117767" y="5124092"/>
                </a:cubicBezTo>
                <a:lnTo>
                  <a:pt x="237244" y="5124092"/>
                </a:lnTo>
                <a:cubicBezTo>
                  <a:pt x="106218" y="5124092"/>
                  <a:pt x="0" y="5017874"/>
                  <a:pt x="0" y="4886848"/>
                </a:cubicBezTo>
                <a:lnTo>
                  <a:pt x="0" y="4819977"/>
                </a:lnTo>
                <a:lnTo>
                  <a:pt x="30933" y="4797780"/>
                </a:lnTo>
                <a:cubicBezTo>
                  <a:pt x="55779" y="4777779"/>
                  <a:pt x="77144" y="4758729"/>
                  <a:pt x="91034" y="4745367"/>
                </a:cubicBezTo>
                <a:cubicBezTo>
                  <a:pt x="146596" y="4691921"/>
                  <a:pt x="150830" y="4608842"/>
                  <a:pt x="154534" y="4554867"/>
                </a:cubicBezTo>
                <a:cubicBezTo>
                  <a:pt x="158238" y="4500892"/>
                  <a:pt x="139188" y="4455384"/>
                  <a:pt x="113259" y="4421517"/>
                </a:cubicBezTo>
                <a:cubicBezTo>
                  <a:pt x="100295" y="4404584"/>
                  <a:pt x="82171" y="4390826"/>
                  <a:pt x="62062" y="4379449"/>
                </a:cubicBezTo>
                <a:lnTo>
                  <a:pt x="0" y="4352126"/>
                </a:lnTo>
                <a:lnTo>
                  <a:pt x="0" y="237244"/>
                </a:lnTo>
                <a:cubicBezTo>
                  <a:pt x="0" y="106218"/>
                  <a:pt x="106218" y="0"/>
                  <a:pt x="2372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10"/>
          </p:nvPr>
        </p:nvSpPr>
        <p:spPr>
          <a:xfrm>
            <a:off x="6096000" y="723900"/>
            <a:ext cx="2514600" cy="2514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9077325" y="723900"/>
            <a:ext cx="2514600" cy="2514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12"/>
          </p:nvPr>
        </p:nvSpPr>
        <p:spPr>
          <a:xfrm>
            <a:off x="6096000" y="3657600"/>
            <a:ext cx="2514600" cy="2514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13"/>
          </p:nvPr>
        </p:nvSpPr>
        <p:spPr>
          <a:xfrm>
            <a:off x="9077325" y="3657600"/>
            <a:ext cx="2514600" cy="25146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212998" y="2020953"/>
            <a:ext cx="3058185" cy="3617286"/>
          </a:xfrm>
          <a:custGeom>
            <a:avLst/>
            <a:gdLst>
              <a:gd name="connsiteX0" fmla="*/ 0 w 3058185"/>
              <a:gd name="connsiteY0" fmla="*/ 0 h 3617286"/>
              <a:gd name="connsiteX1" fmla="*/ 3058185 w 3058185"/>
              <a:gd name="connsiteY1" fmla="*/ 0 h 3617286"/>
              <a:gd name="connsiteX2" fmla="*/ 3058185 w 3058185"/>
              <a:gd name="connsiteY2" fmla="*/ 3617286 h 3617286"/>
              <a:gd name="connsiteX3" fmla="*/ 0 w 3058185"/>
              <a:gd name="connsiteY3" fmla="*/ 3617286 h 3617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8185" h="3617286">
                <a:moveTo>
                  <a:pt x="0" y="0"/>
                </a:moveTo>
                <a:lnTo>
                  <a:pt x="3058185" y="0"/>
                </a:lnTo>
                <a:lnTo>
                  <a:pt x="3058185" y="3617286"/>
                </a:lnTo>
                <a:lnTo>
                  <a:pt x="0" y="36172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030514" y="1690234"/>
            <a:ext cx="5578021" cy="347753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997B5FA-0921-464F-AAE1-844C04324D75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512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650" r:id="rId20"/>
    <p:sldLayoutId id="2147483651" r:id="rId21"/>
    <p:sldLayoutId id="2147483652" r:id="rId22"/>
    <p:sldLayoutId id="2147483653" r:id="rId23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932E0E8-4C9C-7B16-D970-C0FD589FD0D7}"/>
              </a:ext>
            </a:extLst>
          </p:cNvPr>
          <p:cNvSpPr txBox="1">
            <a:spLocks/>
          </p:cNvSpPr>
          <p:nvPr/>
        </p:nvSpPr>
        <p:spPr>
          <a:xfrm>
            <a:off x="827674" y="1576166"/>
            <a:ext cx="9618453" cy="1058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1" kern="0" dirty="0">
                <a:latin typeface="Times New Roman" pitchFamily="18"/>
                <a:ea typeface="Arial Unicode MS" pitchFamily="2"/>
                <a:cs typeface="Times New Roman" pitchFamily="18"/>
              </a:rPr>
              <a:t>IZEE BUSINESS SCHOOL</a:t>
            </a:r>
            <a:br>
              <a:rPr lang="en-IN" sz="2400" b="1" dirty="0">
                <a:solidFill>
                  <a:schemeClr val="accent1"/>
                </a:solidFill>
                <a:latin typeface="Times New Roman" pitchFamily="18"/>
                <a:ea typeface="Arial Unicode MS" pitchFamily="2"/>
                <a:cs typeface="Times New Roman" pitchFamily="18"/>
              </a:rPr>
            </a:br>
            <a:r>
              <a:rPr lang="en-IN" sz="2400" b="1" dirty="0">
                <a:solidFill>
                  <a:schemeClr val="accent1"/>
                </a:solidFill>
                <a:latin typeface="Times New Roman" pitchFamily="18"/>
                <a:ea typeface="Arial Unicode MS" pitchFamily="2"/>
                <a:cs typeface="Times New Roman" pitchFamily="18"/>
              </a:rPr>
              <a:t>    </a:t>
            </a:r>
            <a:r>
              <a:rPr lang="en-IN" sz="2400" b="1" dirty="0">
                <a:solidFill>
                  <a:schemeClr val="bg1"/>
                </a:solidFill>
                <a:latin typeface="Times New Roman" pitchFamily="18"/>
                <a:ea typeface="Arial Unicode MS" pitchFamily="2"/>
                <a:cs typeface="Times New Roman" pitchFamily="18"/>
              </a:rPr>
              <a:t>Department Of  Bachelor’s of Computer Applications </a:t>
            </a:r>
            <a:endParaRPr lang="en-IN" sz="24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br>
              <a:rPr lang="en-IN" sz="2400" b="1" dirty="0">
                <a:solidFill>
                  <a:schemeClr val="accent1"/>
                </a:solidFill>
                <a:latin typeface="Times New Roman" pitchFamily="18"/>
                <a:ea typeface="Arial Unicode MS" pitchFamily="2"/>
                <a:cs typeface="Times New Roman" pitchFamily="18"/>
              </a:rPr>
            </a:br>
            <a:endParaRPr lang="en-IN" sz="2400" kern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4A0E3-F78A-030B-9763-33CD7D7C4B02}"/>
              </a:ext>
            </a:extLst>
          </p:cNvPr>
          <p:cNvSpPr txBox="1"/>
          <p:nvPr/>
        </p:nvSpPr>
        <p:spPr>
          <a:xfrm>
            <a:off x="525261" y="4635304"/>
            <a:ext cx="4899102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u="none" strike="noStrike" kern="1200" cap="none" spc="0" baseline="0" dirty="0">
                <a:solidFill>
                  <a:schemeClr val="accent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 </a:t>
            </a: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Under the guidance of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 Mr. Venkateshwarulu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 E</a:t>
            </a:r>
            <a:r>
              <a:rPr lang="en-IN" sz="2000" b="1" dirty="0">
                <a:solidFill>
                  <a:schemeClr val="bg1"/>
                </a:solidFill>
                <a:latin typeface="Times New Roman" pitchFamily="18"/>
                <a:ea typeface="Arial Unicode MS" pitchFamily="2"/>
                <a:cs typeface="Times New Roman" pitchFamily="18"/>
              </a:rPr>
              <a:t>xcelR Raising Excellence </a:t>
            </a:r>
            <a:endParaRPr lang="en-IN" sz="2000" b="1" i="0" u="none" strike="noStrike" kern="1200" cap="none" spc="0" baseline="0" dirty="0">
              <a:solidFill>
                <a:schemeClr val="bg1"/>
              </a:solidFill>
              <a:uFillTx/>
              <a:latin typeface="Times New Roman" pitchFamily="18"/>
              <a:ea typeface="Arial Unicode MS" pitchFamily="2"/>
              <a:cs typeface="Times New Roman" pitchFamily="1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BC5B0-2EDA-338C-9593-01AAE5B663F7}"/>
              </a:ext>
            </a:extLst>
          </p:cNvPr>
          <p:cNvSpPr txBox="1"/>
          <p:nvPr/>
        </p:nvSpPr>
        <p:spPr>
          <a:xfrm>
            <a:off x="8427522" y="4635304"/>
            <a:ext cx="4899102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Presented by: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MORLA JAHNAVI</a:t>
            </a:r>
            <a:endParaRPr lang="en-IN" sz="2000" b="1" dirty="0">
              <a:solidFill>
                <a:schemeClr val="bg1"/>
              </a:solidFill>
              <a:latin typeface="Times New Roman" pitchFamily="18"/>
              <a:ea typeface="Arial Unicode MS" pitchFamily="2"/>
              <a:cs typeface="Times New Roman" pitchFamily="18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 dirty="0">
                <a:solidFill>
                  <a:schemeClr val="bg1"/>
                </a:solidFill>
                <a:uFillTx/>
                <a:latin typeface="Times New Roman" pitchFamily="18"/>
                <a:ea typeface="Arial Unicode MS" pitchFamily="2"/>
                <a:cs typeface="Times New Roman" pitchFamily="18"/>
              </a:rPr>
              <a:t>U03EX22SOO99</a:t>
            </a:r>
          </a:p>
        </p:txBody>
      </p:sp>
      <p:pic>
        <p:nvPicPr>
          <p:cNvPr id="10" name="Picture 2" descr="IZee Business School: Admissions 2025, Courses, Fees, Eligibility ...">
            <a:extLst>
              <a:ext uri="{FF2B5EF4-FFF2-40B4-BE49-F238E27FC236}">
                <a16:creationId xmlns:a16="http://schemas.microsoft.com/office/drawing/2014/main" id="{F592EC35-49BE-EE17-E6FA-78A1A1D25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95" r="1272" b="22453"/>
          <a:stretch/>
        </p:blipFill>
        <p:spPr bwMode="auto">
          <a:xfrm>
            <a:off x="4632821" y="395348"/>
            <a:ext cx="2008158" cy="115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8F34B-40EA-0768-E0D5-9ED1E015E40A}"/>
              </a:ext>
            </a:extLst>
          </p:cNvPr>
          <p:cNvSpPr txBox="1"/>
          <p:nvPr/>
        </p:nvSpPr>
        <p:spPr>
          <a:xfrm>
            <a:off x="2147977" y="2922464"/>
            <a:ext cx="6977848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1" dirty="0">
                <a:solidFill>
                  <a:schemeClr val="bg1"/>
                </a:solidFill>
                <a:latin typeface="Times New Roman" pitchFamily="18"/>
                <a:ea typeface="Arial Unicode MS" pitchFamily="2"/>
                <a:cs typeface="Times New Roman" pitchFamily="18"/>
              </a:rPr>
              <a:t>Internship on 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chemeClr val="bg1"/>
                </a:solidFill>
                <a:latin typeface="Times New Roman" pitchFamily="18"/>
                <a:ea typeface="Arial Unicode MS" pitchFamily="2"/>
                <a:cs typeface="Times New Roman" pitchFamily="18"/>
              </a:rPr>
              <a:t>“Artificial intelligence and Machine learning”</a:t>
            </a:r>
            <a:endParaRPr lang="en-IN" sz="2400" kern="0" dirty="0">
              <a:solidFill>
                <a:schemeClr val="bg1"/>
              </a:solidFill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400" b="1" i="0" u="none" strike="noStrike" kern="1200" cap="none" spc="0" baseline="0" dirty="0">
              <a:solidFill>
                <a:schemeClr val="bg1"/>
              </a:solidFill>
              <a:uFillTx/>
              <a:latin typeface="Times New Roman" pitchFamily="18"/>
              <a:ea typeface="Arial Unicode MS" pitchFamily="2"/>
              <a:cs typeface="Times New Roman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19827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71123" y="922489"/>
            <a:ext cx="10948035" cy="52626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en-US" sz="72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Comparative Analysis of CNN and Vision Transformer Models on</a:t>
            </a:r>
          </a:p>
          <a:p>
            <a:pPr algn="ctr"/>
            <a:r>
              <a:rPr lang="en-US" altLang="en-US" sz="72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Object Detection Problems</a:t>
            </a:r>
          </a:p>
          <a:p>
            <a:pPr algn="ctr"/>
            <a:endParaRPr lang="en-US" altLang="en-US" sz="5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9105" y="305435"/>
            <a:ext cx="11551285" cy="600964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37540" y="3586480"/>
            <a:ext cx="2269490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Project Folw</a:t>
            </a:r>
          </a:p>
          <a:p>
            <a:pPr algn="ctr"/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0600" y="4336210"/>
            <a:ext cx="8834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23645" y="2921696"/>
            <a:ext cx="198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4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14040" y="3586340"/>
            <a:ext cx="1983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Business Objective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014040" y="2921696"/>
            <a:ext cx="198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4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04435" y="2921696"/>
            <a:ext cx="198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4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94550" y="3586480"/>
            <a:ext cx="233235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Implementation       &amp; Training  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194830" y="2921696"/>
            <a:ext cx="198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4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76345" y="1498600"/>
            <a:ext cx="463994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5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474200" y="3586480"/>
            <a:ext cx="2313305" cy="644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Evaluation &amp; Comparative Analysis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285225" y="2921696"/>
            <a:ext cx="198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4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563870" y="4336210"/>
            <a:ext cx="8834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495515" y="4336210"/>
            <a:ext cx="8834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7660840" y="4336210"/>
            <a:ext cx="8834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057940" y="4336210"/>
            <a:ext cx="8834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040630" y="3586480"/>
            <a:ext cx="2110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Literature Review &amp; Dataset Preparation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7" grpId="0"/>
      <p:bldP spid="18" grpId="0"/>
      <p:bldP spid="19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661169" y="2602727"/>
            <a:ext cx="1587487" cy="158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908808" y="3050421"/>
            <a:ext cx="256807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Project Flow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661169" y="2673195"/>
            <a:ext cx="15874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1"/>
                </a:solidFill>
                <a:cs typeface="+mn-ea"/>
                <a:sym typeface="+mn-lt"/>
              </a:rPr>
              <a:t>01</a:t>
            </a:r>
            <a:endParaRPr lang="zh-CN" altLang="en-US" sz="8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908877" y="3783907"/>
            <a:ext cx="2476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2682531" y="1517362"/>
            <a:ext cx="6826938" cy="3823276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37" grpId="0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2"/>
          <p:cNvCxnSpPr/>
          <p:nvPr/>
        </p:nvCxnSpPr>
        <p:spPr>
          <a:xfrm>
            <a:off x="2141862" y="5235077"/>
            <a:ext cx="65339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2"/>
          <p:cNvCxnSpPr/>
          <p:nvPr/>
        </p:nvCxnSpPr>
        <p:spPr>
          <a:xfrm>
            <a:off x="5799464" y="5235077"/>
            <a:ext cx="65339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2"/>
          <p:cNvCxnSpPr/>
          <p:nvPr/>
        </p:nvCxnSpPr>
        <p:spPr>
          <a:xfrm>
            <a:off x="9457066" y="5235077"/>
            <a:ext cx="65339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/>
          <p:cNvSpPr/>
          <p:nvPr/>
        </p:nvSpPr>
        <p:spPr>
          <a:xfrm>
            <a:off x="2446655" y="399415"/>
            <a:ext cx="7010400" cy="914400"/>
          </a:xfrm>
          <a:prstGeom prst="flowChartProcess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Business Objective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2446655" y="1914525"/>
            <a:ext cx="7010400" cy="914400"/>
          </a:xfrm>
          <a:prstGeom prst="flowChartProcess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Literature Review &amp; Dataset Preparation</a:t>
            </a:r>
            <a:endParaRPr lang="en-US" altLang="en-GB" sz="2800">
              <a:solidFill>
                <a:schemeClr val="dk1"/>
              </a:solidFill>
              <a:latin typeface="Times New Roman" panose="02020603050405020304" charset="0"/>
              <a:ea typeface="Roboto"/>
              <a:cs typeface="Times New Roman" panose="02020603050405020304" charset="0"/>
              <a:sym typeface="Roboto"/>
            </a:endParaRPr>
          </a:p>
        </p:txBody>
      </p:sp>
      <p:sp>
        <p:nvSpPr>
          <p:cNvPr id="7" name="Flowchart: Process 6"/>
          <p:cNvSpPr/>
          <p:nvPr/>
        </p:nvSpPr>
        <p:spPr>
          <a:xfrm>
            <a:off x="2446655" y="3354705"/>
            <a:ext cx="7010400" cy="914400"/>
          </a:xfrm>
          <a:prstGeom prst="flowChartProcess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en-US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  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Implementation &amp; Training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  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2446655" y="4794885"/>
            <a:ext cx="7010400" cy="914400"/>
          </a:xfrm>
          <a:prstGeom prst="flowChartProcess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Evaluation &amp; Comparative Analysis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5598160" y="1313815"/>
            <a:ext cx="307340" cy="600075"/>
          </a:xfrm>
          <a:prstGeom prst="downArrow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5598160" y="2824480"/>
            <a:ext cx="307340" cy="509270"/>
          </a:xfrm>
          <a:prstGeom prst="downArrow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5598160" y="4265930"/>
            <a:ext cx="307340" cy="526415"/>
          </a:xfrm>
          <a:prstGeom prst="downArrow">
            <a:avLst/>
          </a:prstGeom>
          <a:blipFill rotWithShape="1">
            <a:blip r:embed="rId3"/>
            <a:tile tx="0" ty="0" sx="100000" sy="100000" flip="none" algn="tl"/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661169" y="2602727"/>
            <a:ext cx="1587487" cy="158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47055" y="2901315"/>
            <a:ext cx="3517265" cy="643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Business Objective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661169" y="2673195"/>
            <a:ext cx="15874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1"/>
                </a:solidFill>
                <a:cs typeface="+mn-ea"/>
                <a:sym typeface="+mn-lt"/>
              </a:rPr>
              <a:t>02</a:t>
            </a:r>
            <a:endParaRPr lang="zh-CN" altLang="en-US" sz="8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167322" y="3665162"/>
            <a:ext cx="2476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682531" y="1517362"/>
            <a:ext cx="6826938" cy="3823276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2"/>
          <p:cNvSpPr txBox="1"/>
          <p:nvPr/>
        </p:nvSpPr>
        <p:spPr>
          <a:xfrm>
            <a:off x="703580" y="1807210"/>
            <a:ext cx="10901045" cy="40570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To Explore and identify at least 5 CNN and Vision Transformer architectures/models that are commonly used for  object detection problems.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Conduct Comparative Analysis using Object Detection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Key Goals: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           1.  Identify at least five models used for object detection.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           2.  Compare performance in terms of accuracy, mean Average Precision (mAP), inference time, and                                          	 computational efficiency.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           3.  Determine the most effective architecture for specific use cases.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661169" y="2602727"/>
            <a:ext cx="1587487" cy="158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88965" y="2787015"/>
            <a:ext cx="336677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Literature Review &amp; Dataset Preparation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61169" y="2673195"/>
            <a:ext cx="15874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1"/>
                </a:solidFill>
                <a:cs typeface="+mn-ea"/>
                <a:sym typeface="+mn-lt"/>
              </a:rPr>
              <a:t>03</a:t>
            </a:r>
            <a:endParaRPr lang="zh-CN" altLang="en-US" sz="8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96202" y="3835342"/>
            <a:ext cx="2476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682531" y="1517362"/>
            <a:ext cx="6826938" cy="3823276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98245" y="982345"/>
            <a:ext cx="9273540" cy="5121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Literature Review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Dataset :</a:t>
            </a:r>
            <a:r>
              <a:rPr lang="en-US" altLang="en-US" sz="2400" b="1" u="sng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Pascal VOC Dataset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11375" y="1597660"/>
            <a:ext cx="7331075" cy="174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Studied CNN architectures: AlexNet, VGG, ResNet, MobileNet.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Studied Vision Transformer models: ViT.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Analyzed research papers and benchmarking studies on object detection models.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238375" y="4250690"/>
            <a:ext cx="7585710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Pascal VOC is a widely used dataset for object detection tasks.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Contains annotated images with bounding boxes and class labels.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Includes 20 object categories such as person, car, dog, bicycle, etc.</a:t>
            </a:r>
            <a:endParaRPr lang="en-US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80415" y="908685"/>
            <a:ext cx="9528175" cy="4568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0" lvl="5" indent="457200"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0" lvl="5" indent="457200"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23950" y="1120140"/>
            <a:ext cx="9613265" cy="414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>
              <a:solidFill>
                <a:schemeClr val="bg1"/>
              </a:solidFill>
              <a:sym typeface="+mn-ea"/>
            </a:endParaRPr>
          </a:p>
          <a:p>
            <a:r>
              <a:rPr lang="en-US">
                <a:solidFill>
                  <a:schemeClr val="bg1"/>
                </a:solidFill>
                <a:sym typeface="+mn-ea"/>
              </a:rPr>
              <a:t>                                              </a:t>
            </a:r>
            <a:r>
              <a:rPr 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endParaRPr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>
              <a:solidFill>
                <a:schemeClr val="bg1"/>
              </a:solidFill>
              <a:sym typeface="+mn-ea"/>
            </a:endParaRPr>
          </a:p>
          <a:p>
            <a:endParaRPr>
              <a:solidFill>
                <a:schemeClr val="bg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dataset undergoes preprocessing before feeding into the model:</a:t>
            </a:r>
          </a:p>
          <a:p>
            <a:pPr indent="0">
              <a:buFont typeface="Arial" panose="020B0604020202020204" pitchFamily="34" charset="0"/>
              <a:buNone/>
            </a:pPr>
            <a:endParaRPr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Images are resized to (300x300) for consistency.</a:t>
            </a:r>
          </a:p>
          <a:p>
            <a:pPr indent="0">
              <a:buFont typeface="Arial" panose="020B0604020202020204" pitchFamily="34" charset="0"/>
              <a:buNone/>
            </a:pPr>
            <a:endParaRPr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Converted to tensors for deep learning compatibility.</a:t>
            </a:r>
          </a:p>
          <a:p>
            <a:pPr indent="0">
              <a:buFont typeface="Arial" panose="020B0604020202020204" pitchFamily="34" charset="0"/>
              <a:buNone/>
            </a:pPr>
            <a:endParaRPr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Normalized using  mean and standard deviation.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solidFill>
                <a:schemeClr val="bg1"/>
              </a:solidFill>
              <a:sym typeface="+mn-ea"/>
            </a:endParaRPr>
          </a:p>
          <a:p>
            <a:endParaRPr 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" y="972185"/>
            <a:ext cx="5784215" cy="4086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430" y="971550"/>
            <a:ext cx="5337175" cy="40868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78180" y="5354320"/>
            <a:ext cx="4668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1. Class Distribution in Pascal VOC    	2012 Train Set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598920" y="5354320"/>
            <a:ext cx="4668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2. Bounding Box Size Distribution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823595"/>
            <a:ext cx="5612765" cy="40316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45" y="823595"/>
            <a:ext cx="5764530" cy="40316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78180" y="5173980"/>
            <a:ext cx="4668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3. Bounding Box Aspect Ratio 	Distribution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185535" y="5173980"/>
            <a:ext cx="4668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4. Class Distribution in Train vs Test 	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501140"/>
            <a:ext cx="11692890" cy="35585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917825" y="5259070"/>
            <a:ext cx="6948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5. Sample Images with Bounding Boxes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661169" y="2602727"/>
            <a:ext cx="1587487" cy="158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32450" y="2673350"/>
            <a:ext cx="3469640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Implementation       &amp; Training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61169" y="2673195"/>
            <a:ext cx="15874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1"/>
                </a:solidFill>
                <a:cs typeface="+mn-ea"/>
                <a:sym typeface="+mn-lt"/>
              </a:rPr>
              <a:t>04</a:t>
            </a:r>
            <a:endParaRPr lang="zh-CN" altLang="en-US" sz="8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972377" y="3639127"/>
            <a:ext cx="2476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682531" y="1517362"/>
            <a:ext cx="6826938" cy="3823276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98245" y="982345"/>
            <a:ext cx="9273540" cy="5121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Selection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Training Setup: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11375" y="1597660"/>
            <a:ext cx="7331075" cy="1174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CNN-based Models: AlexNet, VGG, ResNet, MobileNet.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Transformer-based Models: Vision Transformer (ViT).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11375" y="3953510"/>
            <a:ext cx="7585710" cy="1927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pre-trained models and fine-tuned on Pascal VOC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Configured hyperparameters such as learning rate, batch size, and optimizer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GPU acceleration to speed up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40460" y="1343660"/>
            <a:ext cx="9273540" cy="3594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Challenges Encountered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11375" y="2138045"/>
            <a:ext cx="7331075" cy="174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CNN models require extensive feature extraction and computational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Vision Transformers require a large amount of training data but provide better generalization.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661169" y="2602727"/>
            <a:ext cx="1587487" cy="158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62955" y="2741930"/>
            <a:ext cx="3225165" cy="1046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Model Evaluation &amp; Comparative Analysis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61169" y="2673195"/>
            <a:ext cx="15874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1"/>
                </a:solidFill>
                <a:cs typeface="+mn-ea"/>
                <a:sym typeface="+mn-lt"/>
              </a:rPr>
              <a:t>05</a:t>
            </a:r>
            <a:endParaRPr lang="zh-CN" altLang="en-US" sz="8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237172" y="3712787"/>
            <a:ext cx="2476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682531" y="1517362"/>
            <a:ext cx="6826938" cy="3823276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2"/>
          <p:cNvSpPr txBox="1"/>
          <p:nvPr/>
        </p:nvSpPr>
        <p:spPr>
          <a:xfrm>
            <a:off x="703580" y="1181735"/>
            <a:ext cx="10901045" cy="4512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performance is evaluated using metrics like: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Accuracy: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Measures the overall correctness of model predictions.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mAP (mean Average Precision): Evaluates precision-recall trade-off for object detection.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Inference Time: Assesses the time required for a single image prediction.</a:t>
            </a:r>
          </a:p>
          <a:p>
            <a:pPr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Key Comparison of CNN vs Vision Transformers: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CNNs are efficient for small datasets and real-time applications.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Vision Transformers provide better accuracy for complex datasets but require more computational power.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Trade-off between accuracy and inference speed determines the best model for a given use case.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48970" y="1140460"/>
          <a:ext cx="11049000" cy="4771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 Accuracy (%)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Inference Time (s/batch)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Model Size (MB)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83.1874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0.00211227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512.476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0.0633932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alexnet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83.1874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0.00118203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217.765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0.0633932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84.2349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0.00749664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89.8324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0.0633932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mobilenet_v2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86.8109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0.00664937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8.58113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0.0633932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vit_b_16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83.1874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 0.00647309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 327.355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0.0633932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171950" y="473075"/>
            <a:ext cx="4234180" cy="559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Model Comparision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66750"/>
            <a:ext cx="5786120" cy="4400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305" y="666115"/>
            <a:ext cx="6045200" cy="44011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78180" y="5322570"/>
            <a:ext cx="4668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6. Model Accuracy Comparision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228080" y="5322570"/>
            <a:ext cx="548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7. Model Inference Time Comparision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793750"/>
            <a:ext cx="5947410" cy="43472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395" y="794385"/>
            <a:ext cx="5772785" cy="43459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78180" y="5322570"/>
            <a:ext cx="4668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8. Model Size Comparision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887210" y="5322570"/>
            <a:ext cx="4668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9. Model mAP Comparision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084320" y="91440"/>
            <a:ext cx="3724275" cy="848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1635" y="940435"/>
            <a:ext cx="11597005" cy="591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We can observe the following key insights regarding the performance of different models in terms of accuracy, inference time, model size, and mean Average Precision (mAP):</a:t>
            </a:r>
          </a:p>
          <a:p>
            <a:pPr marL="342900" indent="-342900">
              <a:buAutoNum type="arabicPeriod"/>
            </a:pPr>
            <a:r>
              <a:rPr lang="en-US" altLang="en-US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Accuracy Trends: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MobileNetV2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achieved the highest accuracy (86.81%), making it the best-performing model in terms of classification accuracy.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Inference Time: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AlexNet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has the fastest inference time (0.00118s/batch), making it the most efficient in real-time scenarios.</a:t>
            </a:r>
          </a:p>
          <a:p>
            <a:pPr lvl="1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Model Size Considerations: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MobileNetV2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is the smallest model (8.58MB), making it highly efficient for deployment on edge devices.</a:t>
            </a:r>
          </a:p>
          <a:p>
            <a:pPr marL="342900" indent="-342900">
              <a:buAutoNum type="arabicPeriod"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u="sng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mAP Consistency: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All models show the same mAP value of 0.0633, indicating that object detection performance is relatively similar across architectures in this specific task.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We can conclude that, </a:t>
            </a: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MobileNetV2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is the most efficient model overall, offering the best trade-off between accuracy (86.81%), inference speed (0.00664s), and model size (8.58MB). For high accuracy tasks, </a:t>
            </a: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ResNet50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is preferable, while </a:t>
            </a: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AlexNet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is the fastest option but lacks accuracy improvements.</a:t>
            </a:r>
          </a:p>
          <a:p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78835" y="2789555"/>
            <a:ext cx="5264150" cy="12788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lt"/>
              </a:rPr>
              <a:t>THANK YOU</a:t>
            </a:r>
          </a:p>
        </p:txBody>
      </p:sp>
      <p:sp>
        <p:nvSpPr>
          <p:cNvPr id="13" name="矩形 12"/>
          <p:cNvSpPr/>
          <p:nvPr/>
        </p:nvSpPr>
        <p:spPr>
          <a:xfrm>
            <a:off x="2516294" y="1871980"/>
            <a:ext cx="7159413" cy="311404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375"/>
  <p:tag name="TABLE_ENDDRAG_RECT" val="74*89*870*375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40</TotalTime>
  <Words>818</Words>
  <Application>Microsoft Office PowerPoint</Application>
  <PresentationFormat>Widescreen</PresentationFormat>
  <Paragraphs>187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等线</vt:lpstr>
      <vt:lpstr>Arial</vt:lpstr>
      <vt:lpstr>Century Gothic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Morla Jahnavi</cp:lastModifiedBy>
  <cp:revision>86</cp:revision>
  <dcterms:created xsi:type="dcterms:W3CDTF">2018-10-16T08:10:00Z</dcterms:created>
  <dcterms:modified xsi:type="dcterms:W3CDTF">2025-05-01T12:56:01Z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F8A734190FF3483FA7C1F0FF8B3F3222_11</vt:lpwstr>
  </property>
  <property fmtid="{D5CDD505-2E9C-101B-9397-08002B2CF9AE}" pid="3" name="KSOProductBuildVer">
    <vt:lpwstr>1033-12.2.0.19821</vt:lpwstr>
  </property>
</Properties>
</file>